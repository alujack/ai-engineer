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989320" y="91440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051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PART 2 · FRONTEND DEVELOPMENT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15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187452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មូលដ្ឋាន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658368" y="2880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Components · JSX · Props · Lists — ស្ថាបនា UI តាមរបៀប Declarative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5836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3–4 ម៉ោង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440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1012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Prereq: Lesson 11–14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70448" y="3886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282C34"/>
          </a:solidFill>
          <a:ln w="9525">
            <a:solidFill>
              <a:srgbClr val="61DA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16168" y="38862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+ JSX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គោលបំណង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Learning Objectives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49224" y="1508760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8" name="Text 5"/>
          <p:cNvSpPr/>
          <p:nvPr/>
        </p:nvSpPr>
        <p:spPr>
          <a:xfrm>
            <a:off x="649224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24712" y="1325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ពន្យល់បានថា React ជាអ្វី និងហេតុអ្វីពេញនិយម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9224" y="2350008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24712" y="21671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យល់ Component-Based Architecture និង Virtual DOM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5" name="Shape 12"/>
          <p:cNvSpPr/>
          <p:nvPr/>
        </p:nvSpPr>
        <p:spPr>
          <a:xfrm>
            <a:off x="649224" y="3191256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24712" y="30083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Setup React Project ដោយ Vite ហើយរត់ Dev Server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849624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19" name="Shape 16"/>
          <p:cNvSpPr/>
          <p:nvPr/>
        </p:nvSpPr>
        <p:spPr>
          <a:xfrm>
            <a:off x="649224" y="4032504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0" name="Text 17"/>
          <p:cNvSpPr/>
          <p:nvPr/>
        </p:nvSpPr>
        <p:spPr>
          <a:xfrm>
            <a:off x="649224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124712" y="3849624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សរសេរ JSX បានត្រឹមត្រូវ (Rules, Expressions, className)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709160" y="1325880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23" name="Shape 20"/>
          <p:cNvSpPr/>
          <p:nvPr/>
        </p:nvSpPr>
        <p:spPr>
          <a:xfrm>
            <a:off x="4855464" y="1508760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4" name="Text 21"/>
          <p:cNvSpPr/>
          <p:nvPr/>
        </p:nvSpPr>
        <p:spPr>
          <a:xfrm>
            <a:off x="4855464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330952" y="132588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បង្កើត Functional Components ជា Component Tree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709160" y="2167128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F4F6F8"/>
          </a:solidFill>
          <a:ln/>
        </p:spPr>
      </p:sp>
      <p:sp>
        <p:nvSpPr>
          <p:cNvPr id="27" name="Shape 24"/>
          <p:cNvSpPr/>
          <p:nvPr/>
        </p:nvSpPr>
        <p:spPr>
          <a:xfrm>
            <a:off x="4855464" y="2350008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8" name="Text 25"/>
          <p:cNvSpPr/>
          <p:nvPr/>
        </p:nvSpPr>
        <p:spPr>
          <a:xfrm>
            <a:off x="4855464" y="23500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5330952" y="2167128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បញ្ជូន Data តាម Props (children, Destructuring)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709160" y="3008376"/>
            <a:ext cx="393192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31" name="Shape 28"/>
          <p:cNvSpPr/>
          <p:nvPr/>
        </p:nvSpPr>
        <p:spPr>
          <a:xfrm>
            <a:off x="4855464" y="3191256"/>
            <a:ext cx="347472" cy="347472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32" name="Text 29"/>
          <p:cNvSpPr/>
          <p:nvPr/>
        </p:nvSpPr>
        <p:spPr>
          <a:xfrm>
            <a:off x="4855464" y="3191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30952" y="300837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 List ដោយ .map() និងយល់ key Prop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ជាអ្វី?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325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គឺជា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JavaScript Library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ដែលបង្កើតដោយ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Meta (Facebook)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សម្រាប់ស្ថាបនា User Interface — ជាពិសេស Single Page Applications (SPA)។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148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ជំនួសការសរសេរ DOM Manipulation ដោយផ្ទាល់ — React ឲ្យយើង “រៀបរាប់” UI ថាគួរមើលទៅយ៉ាងណា ហើយវាគ្រប់គ្រង DOM Update ឲ្យដោយខ្លួនឯង។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📋  Library មិនមែន Framework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67512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ផ្ដោតលើ View Layer — ផ្សំជាមួយ tools ដទៃបាន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82696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47288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🧩  Component-Based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447288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បំបែក UI ជាបំណែកតូចៗ ប្រើឡើងវិញបាន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62472" y="30632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27064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⚡  Virtual DOM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27064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Update តែផ្នែកដែលផ្លាស់ប្ដូរ → លឿន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Imperative ⟷ Declarative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F4F6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5361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DOM ដោយផ្ទាល់  ·  Imperative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Select element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Change textContent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Toggle class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Update attribute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… repeat for every change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3716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892040" y="1536192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7F4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 ·  Declarative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201168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1. ប្រាប់ React ថា State ប្ដូរ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2. React Re-render Component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3. React Update DOM ដោយខ្លួនឯង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   (តាមរយៈ Virtual DOM Diff)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ហេតុអ្វីប្រើ React?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618488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1907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16152" y="1499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Component-Based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16152" y="18196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បំបែក UI ជាបំណែក Reusable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3282696" y="1371600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12" name="Shape 8"/>
          <p:cNvSpPr/>
          <p:nvPr/>
        </p:nvSpPr>
        <p:spPr>
          <a:xfrm>
            <a:off x="3447288" y="1618488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171907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95928" y="1499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Declarative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3995928" y="18196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សរសេរ UI ងាយយល់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062472" y="1371600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227064" y="1618488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71907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75704" y="1499616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Virtual DOM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75704" y="18196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លឿន — update តែផ្នែកប្ដូរ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502920" y="245059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22" name="Shape 16"/>
          <p:cNvSpPr/>
          <p:nvPr/>
        </p:nvSpPr>
        <p:spPr>
          <a:xfrm>
            <a:off x="667512" y="2697480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279806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16152" y="25786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Huge Ecosystem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216152" y="28986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Library, Tool, Community ច្រើន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3282696" y="2450592"/>
            <a:ext cx="2606040" cy="932688"/>
          </a:xfrm>
          <a:prstGeom prst="roundRect">
            <a:avLst>
              <a:gd name="adj" fmla="val 6863"/>
            </a:avLst>
          </a:prstGeom>
          <a:solidFill>
            <a:srgbClr val="F4F6F8"/>
          </a:solidFill>
          <a:ln/>
        </p:spPr>
      </p:sp>
      <p:sp>
        <p:nvSpPr>
          <p:cNvPr id="27" name="Shape 20"/>
          <p:cNvSpPr/>
          <p:nvPr/>
        </p:nvSpPr>
        <p:spPr>
          <a:xfrm>
            <a:off x="3447288" y="2697480"/>
            <a:ext cx="438912" cy="438912"/>
          </a:xfrm>
          <a:prstGeom prst="ellipse">
            <a:avLst/>
          </a:prstGeom>
          <a:solidFill>
            <a:srgbClr val="0E7C99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2798064"/>
            <a:ext cx="237744" cy="23774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995928" y="25786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Job Market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3995928" y="2898648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ត្រូវការខ្ពស់បំផុតក្នុង Frontend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3282696" y="3547872"/>
            <a:ext cx="5358384" cy="1024128"/>
          </a:xfrm>
          <a:prstGeom prst="roundRect">
            <a:avLst>
              <a:gd name="adj" fmla="val 7143"/>
            </a:avLst>
          </a:prstGeom>
          <a:solidFill>
            <a:srgbClr val="20232A"/>
          </a:solidFill>
          <a:ln/>
        </p:spPr>
      </p:sp>
      <p:sp>
        <p:nvSpPr>
          <p:cNvPr id="32" name="Text 24"/>
          <p:cNvSpPr/>
          <p:nvPr/>
        </p:nvSpPr>
        <p:spPr>
          <a:xfrm>
            <a:off x="3456432" y="3657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SPA 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HTML ទាញតែម្ដង → JS គ្រប់គ្រងការប្ដូរ Page ដោយមិន Reload → រហ័ស រលូន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3456432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ឧទាហរណ៍: Facebook · Gmail · Notion · Figma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3840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⚛  Single Page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១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Virtual DOM — ដំណើរការ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89888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43000" y="1371600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1325880" y="1371600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រៀបរាប់ UI → React បង្កើត Virtual DOM (Tree ក្នុង Memory)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2066544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43000" y="2048256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1325880" y="2048256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State ផ្លាស់ប្ដូរ → Virtual DOM ថ្មីត្រូវបង្កើត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2743200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143000" y="2724912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EAF8FD"/>
          </a:solidFill>
          <a:ln/>
        </p:spPr>
      </p:sp>
      <p:sp>
        <p:nvSpPr>
          <p:cNvPr id="17" name="Text 14"/>
          <p:cNvSpPr/>
          <p:nvPr/>
        </p:nvSpPr>
        <p:spPr>
          <a:xfrm>
            <a:off x="1325880" y="2724912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ប្រៀបធៀប Old ⟷ New (Diffing Algorithm)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43000" y="3401568"/>
            <a:ext cx="7498080" cy="512064"/>
          </a:xfrm>
          <a:prstGeom prst="roundRect">
            <a:avLst>
              <a:gd name="adj" fmla="val 10714"/>
            </a:avLst>
          </a:prstGeom>
          <a:solidFill>
            <a:srgbClr val="F4F6F8"/>
          </a:solidFill>
          <a:ln/>
        </p:spPr>
      </p:sp>
      <p:sp>
        <p:nvSpPr>
          <p:cNvPr id="21" name="Text 18"/>
          <p:cNvSpPr/>
          <p:nvPr/>
        </p:nvSpPr>
        <p:spPr>
          <a:xfrm>
            <a:off x="1325880" y="3401568"/>
            <a:ext cx="7178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Update តែ Node ដែលផ្លាស់ប្ដូរ ទៅ Real DOM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416052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685800" y="416052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ហេតុអ្វីលឿន: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Real DOM Update Cost ខ្ពស់ — Virtual DOM ធ្វើក្នុង Memory មុន ហើយ Apply ការផ្លាស់ប្ដូរតិចបំផុត។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Setup ជាមួយ Vite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(“លឿន” ជាភាសាបារាំង) = Build Tool ដែលលឿនជាង Create React App ច្រើនដង — Standard សម្រាប់ React Project ថ្មីៗ។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5120640" cy="2697480"/>
          </a:xfrm>
          <a:prstGeom prst="roundRect">
            <a:avLst>
              <a:gd name="adj" fmla="val 2034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984248"/>
            <a:ext cx="4791456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បង្កើត Project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create vite@latest my-app -- \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--template react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ចូល Folder &amp; ដំឡើង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my-app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រត់ Dev Server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852160" y="1874520"/>
            <a:ext cx="2788920" cy="1097280"/>
          </a:xfrm>
          <a:prstGeom prst="roundRect">
            <a:avLst>
              <a:gd name="adj" fmla="val 6667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0" y="1975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Prerequisites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35040" y="22860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Node.js v18+  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npm (មកជាមួយ Node)   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VS Code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52160" y="3108960"/>
            <a:ext cx="278892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Available Scripts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035040" y="351129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preview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903720" y="3511296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Hot Reload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Production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Preview build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Code style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0292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http://localhost:5173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២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Project Structure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4297680" cy="3291840"/>
          </a:xfrm>
          <a:prstGeom prst="roundRect">
            <a:avLst>
              <a:gd name="adj" fmla="val 16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35608"/>
            <a:ext cx="3968496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my-app/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node_modules/   # កុំ Edit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public/         # static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src/   # &lt;- Code របស់យើង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assets/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App.jsx      # Root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App.css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├─ main.jsx     # Entry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 index.css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package.json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vite.config.js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0" y="132588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9" name="Text 6"/>
          <p:cNvSpPr/>
          <p:nvPr/>
        </p:nvSpPr>
        <p:spPr>
          <a:xfrm>
            <a:off x="5212080" y="13807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212080" y="165506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មាន &lt;div id="root"&gt; តែមួយ — React render UI ទាំងមូលនៅទីនេះ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029200" y="214884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2" name="Text 9"/>
          <p:cNvSpPr/>
          <p:nvPr/>
        </p:nvSpPr>
        <p:spPr>
          <a:xfrm>
            <a:off x="5212080" y="2203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main.jsx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212080" y="2478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Entry Point — createRoot(...).render(&lt;App /&gt;)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0" y="297180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5" name="Text 12"/>
          <p:cNvSpPr/>
          <p:nvPr/>
        </p:nvSpPr>
        <p:spPr>
          <a:xfrm>
            <a:off x="5212080" y="30266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5212080" y="33009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Root Component — function ដែល return JSX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0" y="3794760"/>
            <a:ext cx="3611880" cy="713232"/>
          </a:xfrm>
          <a:prstGeom prst="roundRect">
            <a:avLst>
              <a:gd name="adj" fmla="val 7692"/>
            </a:avLst>
          </a:prstGeom>
          <a:solidFill>
            <a:srgbClr val="EAF8FD"/>
          </a:solidFill>
          <a:ln/>
        </p:spPr>
      </p:sp>
      <p:sp>
        <p:nvSpPr>
          <p:cNvPr id="18" name="Text 15"/>
          <p:cNvSpPr/>
          <p:nvPr/>
        </p:nvSpPr>
        <p:spPr>
          <a:xfrm>
            <a:off x="5212080" y="384962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5212080" y="41239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Code របស់យើងទាំងអស់នៅទីនេះ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JSX — JavaScript XML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JSX 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= Syntax Extension នៃ JavaScript ដែលឲ្យយើងសរសេរ HTML-like Code ក្នុង JS។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828800"/>
            <a:ext cx="8138160" cy="1417320"/>
          </a:xfrm>
          <a:prstGeom prst="roundRect">
            <a:avLst>
              <a:gd name="adj" fmla="val 3871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938528"/>
            <a:ext cx="7808976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JSX — មើលទៅដូច HTML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 &lt;h1&gt;Hello, world!&lt;/h1&gt;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តាមពិត Compile ទៅជា Function Call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element = React.createElement('h1', null, 'Hello, world!')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2920" y="3456432"/>
            <a:ext cx="8138160" cy="1097280"/>
          </a:xfrm>
          <a:prstGeom prst="roundRect">
            <a:avLst>
              <a:gd name="adj" fmla="val 6667"/>
            </a:avLst>
          </a:prstGeom>
          <a:solidFill>
            <a:srgbClr val="20232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70332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3611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មិនមែន HTML ទេ!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JSX មើលទៅដូច HTML ប៉ុន្តែវាជា JS — Browser មិនយល់ដោយផ្ទាល់ ត្រូវ Compile មុន (Vite ធ្វើឲ្យស្វ័យប្រវត្តិ)។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JSX Rules — ច្បាប់សំខាន់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9224" y="13716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①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4440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Single Root Element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17922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Element តែមួយ (រុំក្នុង &lt;div&gt; ឬ Fragment &lt;&gt;)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9744" y="13716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②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394960" y="14813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Self-Closing Tags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394960" y="17922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&lt;img /&gt; · &lt;input /&gt; · &lt;br /&gt;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2860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" y="22860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③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234440" y="2395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className ជំនួស class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234440" y="27066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class ជា Keyword Reserved ក្នុង JS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663440" y="2286000"/>
            <a:ext cx="3977640" cy="786384"/>
          </a:xfrm>
          <a:prstGeom prst="roundRect">
            <a:avLst>
              <a:gd name="adj" fmla="val 8140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809744" y="2286000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④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394960" y="23957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camelCase Attributes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394960" y="270662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onClick · onChange · htmlFor · tabIndex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333756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 → onClick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342900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onchange → onChange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126480" y="349300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→ htmlFor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731520" y="3995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tabindex → tabIndex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429000" y="3995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maxlength → maxLength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6126480" y="39959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 → readOnly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៣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Expressions ក្នុង JSX  { }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បញ្ចូល JavaScript Expression ណាមួយ ដោយប្រើ Curly Braces { }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1691640"/>
            <a:ext cx="5074920" cy="2880360"/>
          </a:xfrm>
          <a:prstGeom prst="roundRect">
            <a:avLst>
              <a:gd name="adj" fmla="val 1905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01368"/>
            <a:ext cx="47457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"វិចិត្រ"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20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&lt;h1&gt;Hello, {name}!&lt;/h1&gt;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&lt;p&gt;Age: {age}&lt;/p&gt;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&lt;p&gt;Next year: {age + 1}&lt;/p&gt;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&lt;p&gt;{age &gt;= 18 ? "Adult" : "Minor"}&lt;/p&gt;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&lt;p&gt;{new Date()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.toLocaleDateString()}&lt;/p&gt;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806440" y="169164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801368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ត្រឹម Expression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214884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{ } ទទួល Expression ប៉ុណ្ណោះ — មិនអាចសរសេរ if / for ដោយផ្ទាល់ទេ។ ប្រើ Ternary ឬ .map() ជំនួស។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806440" y="3291840"/>
            <a:ext cx="2834640" cy="1280160"/>
          </a:xfrm>
          <a:prstGeom prst="roundRect">
            <a:avLst>
              <a:gd name="adj" fmla="val 5714"/>
            </a:avLst>
          </a:prstGeom>
          <a:solidFill>
            <a:srgbClr val="F4F6F8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3401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Inline Style = Object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989320" y="37307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style={{ color: "red",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fontSize: "20px" }}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989320" y="4224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Best Practice: ប្រើ className ច្រើនជាង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Components — បំណែក UI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= Function ដែល Return JSX — បំណែក UI ដែលប្រើឡើងវិញ និងផ្សំចូលគ្នាបាន។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5074920" cy="2788920"/>
          </a:xfrm>
          <a:prstGeom prst="roundRect">
            <a:avLst>
              <a:gd name="adj" fmla="val 19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92808"/>
            <a:ext cx="47457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Functional Component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Welcome() 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&lt;h1&gt;Hello, World!&lt;/h1&gt;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ប្រើដូច HTML Tag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&lt;Welcome /&gt;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&lt;Welcome /&gt;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 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1783080"/>
            <a:ext cx="2834640" cy="1508760"/>
          </a:xfrm>
          <a:prstGeom prst="roundRect">
            <a:avLst>
              <a:gd name="adj" fmla="val 4848"/>
            </a:avLst>
          </a:prstGeom>
          <a:solidFill>
            <a:srgbClr val="EAF8FD"/>
          </a:solidFill>
          <a:ln/>
        </p:spPr>
      </p:sp>
      <p:sp>
        <p:nvSpPr>
          <p:cNvPr id="10" name="Text 7"/>
          <p:cNvSpPr/>
          <p:nvPr/>
        </p:nvSpPr>
        <p:spPr>
          <a:xfrm>
            <a:off x="5989320" y="18928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Naming: PascalCase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2240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E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UserCard, NavBar, App</a:t>
            </a: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userCard (=HTML tag!)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89320" y="29077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អក្សរធំ = Component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3429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20232A"/>
          </a:solidFill>
          <a:ln/>
        </p:spPr>
      </p:sp>
      <p:sp>
        <p:nvSpPr>
          <p:cNvPr id="14" name="Text 11"/>
          <p:cNvSpPr/>
          <p:nvPr/>
        </p:nvSpPr>
        <p:spPr>
          <a:xfrm>
            <a:off x="5989320" y="3520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Export / Import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989320" y="3822192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Header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Header from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'./Header'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៤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Tree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4480560" cy="3200400"/>
          </a:xfrm>
          <a:prstGeom prst="roundRect">
            <a:avLst>
              <a:gd name="adj" fmla="val 1714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81328"/>
            <a:ext cx="415137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&lt;Header /&gt;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&lt;Main&gt;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&lt;Sidebar /&gt;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&lt;Content /&gt;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&lt;/Main&gt;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&lt;Footer /&gt;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2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12080" y="137160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40680" y="155448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Header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Main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 Sidebar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Content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0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Footer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212080" y="3840480"/>
            <a:ext cx="3429000" cy="731520"/>
          </a:xfrm>
          <a:prstGeom prst="roundRect">
            <a:avLst>
              <a:gd name="adj" fmla="val 10000"/>
            </a:avLst>
          </a:prstGeom>
          <a:solidFill>
            <a:srgbClr val="20232A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បំបែក Component តូចៗ → Reusable + ងាយ Maintain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— បញ្ជូន Data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02920" y="1280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</a:t>
            </a:r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(Properties) = វិធីបញ្ជូន Data ពី Parent → Child។ ដូច Function Parameters។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783080"/>
            <a:ext cx="4160520" cy="2788920"/>
          </a:xfrm>
          <a:prstGeom prst="roundRect">
            <a:avLst>
              <a:gd name="adj" fmla="val 1967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67512" y="1892808"/>
            <a:ext cx="3831336" cy="2569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ផ្ញើ prop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&lt;Greeting name="វិចិត្រ" /&gt;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ទទួល (Destructuring)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Greeting({ name }) {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&lt;h1&gt;Hello,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{name}!&lt;/h1&gt;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783080"/>
            <a:ext cx="3794760" cy="2788920"/>
          </a:xfrm>
          <a:prstGeom prst="roundRect">
            <a:avLst>
              <a:gd name="adj" fmla="val 2623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029200" y="190195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Types — អ្វីៗក៏ Pass បាន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029200" y="2240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text="Hello"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406640" y="22402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String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029200" y="2560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count={42}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40664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Number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029200" y="28803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isActive={true}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406640" y="28803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Boolean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029200" y="3200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items={[1,2,3]}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406640" y="3200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Array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029200" y="35204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user={{...}}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06640" y="35204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Object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029200" y="38404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onClick={fn}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406640" y="38404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Function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0" y="41605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icon={&lt;Star/&gt;}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406640" y="4160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JSX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0" y="4526280"/>
            <a:ext cx="34747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⚠️ String ប្រើ "..." · ប្រភេទផ្សេង ប្រើ { }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៥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children Prop &amp; Default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4160520" cy="1554480"/>
          </a:xfrm>
          <a:prstGeom prst="roundRect">
            <a:avLst>
              <a:gd name="adj" fmla="val 3529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81328"/>
            <a:ext cx="383133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Default Props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Button({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text = "Click",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 = "blue" })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&lt;button&gt;{text}&lt;/button&gt;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3063240"/>
            <a:ext cx="4160520" cy="1508760"/>
          </a:xfrm>
          <a:prstGeom prst="roundRect">
            <a:avLst>
              <a:gd name="adj" fmla="val 3636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7512" y="3172968"/>
            <a:ext cx="38313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children = content រវាង tags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Card({ children }) {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&lt;div className="card"&gt;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{children}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3794760" cy="1554480"/>
          </a:xfrm>
          <a:prstGeom prst="roundRect">
            <a:avLst>
              <a:gd name="adj" fmla="val 4706"/>
            </a:avLst>
          </a:prstGeom>
          <a:solidFill>
            <a:srgbClr val="EAF8FD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Destructuring Props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0" y="17830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E7F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function Card({ name, age })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function Card(props) → props.name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2514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ធ្វើឲ្យ Code ស្អាត ខ្លី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846320" y="3063240"/>
            <a:ext cx="3794760" cy="1508760"/>
          </a:xfrm>
          <a:prstGeom prst="roundRect">
            <a:avLst>
              <a:gd name="adj" fmla="val 4848"/>
            </a:avLst>
          </a:prstGeom>
          <a:solidFill>
            <a:srgbClr val="20232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0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គឺ Read-Only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មិនត្រូវផ្លាស់ប្ដូរ Props ទេ — បើចង់ Modify ត្រូវប្រើ State (Lesson 16)។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មាតិកា · ៦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Rendering Lists — .map()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25880"/>
            <a:ext cx="4846320" cy="3246120"/>
          </a:xfrm>
          <a:prstGeom prst="roundRect">
            <a:avLst>
              <a:gd name="adj" fmla="val 1690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" y="1435608"/>
            <a:ext cx="451713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students = [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id:1, name:"វិចិត្រ" },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id:2, name:"សុភ័ក្ត្រ" },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{students.map((s) =&gt; (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&lt;StudentCard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key={s.id}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name={s.name}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/&gt;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))}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77840" y="132588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EAF8F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4630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5727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48132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Prop — សំខាន់ណាស់!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760720" y="20574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រាល់ Element ក្នុង List ត្រូវមាន key Unique — React ប្រើវាដើម្បីដឹងថា Element ណាប្ដូរ/បន្ថែម/លុប → Diffing លឿន។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577840" y="3154680"/>
            <a:ext cx="3063240" cy="1417320"/>
          </a:xfrm>
          <a:prstGeom prst="roundRect">
            <a:avLst>
              <a:gd name="adj" fmla="val 5161"/>
            </a:avLst>
          </a:prstGeom>
          <a:solidFill>
            <a:srgbClr val="20232A"/>
          </a:solidFill>
          <a:ln/>
        </p:spPr>
      </p:sp>
      <p:sp>
        <p:nvSpPr>
          <p:cNvPr id="14" name="Text 10"/>
          <p:cNvSpPr/>
          <p:nvPr/>
        </p:nvSpPr>
        <p:spPr>
          <a:xfrm>
            <a:off x="57607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Spread Props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760720" y="35661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បញ្ជូន Object ទាំងមូល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&lt;StudentCard {...student} /&gt;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760720" y="4187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ស្មើនឹង name={..} age={..} grade={..}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DEMO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309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Profile Card App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main.jsx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9184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App.jsx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14173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components/Header.jsx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components/ProfileCard.jsx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2900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components/Footer.jsx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19842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82C34"/>
          </a:solidFill>
          <a:ln w="6350">
            <a:solidFill>
              <a:srgbClr val="61DAF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1984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App.css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2697480"/>
            <a:ext cx="8138160" cy="2240280"/>
          </a:xfrm>
          <a:prstGeom prst="roundRect">
            <a:avLst>
              <a:gd name="adj" fmla="val 2449"/>
            </a:avLst>
          </a:prstGeom>
          <a:solidFill>
            <a:srgbClr val="1E22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67512" y="2807208"/>
            <a:ext cx="7808976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BA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team = [ { id, name, role, avatar, skills:[...] }, ... ]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(&lt;div&gt;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&lt;Header title="ក្រុមការងាររបស់យើង" /&gt;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 className="grid"&gt;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b="1" dirty="0">
                <a:solidFill>
                  <a:srgbClr val="61DA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{team.map((m) =&gt; &lt;ProfileCard key={m.id} {...m} /&gt;)}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&lt;Footer&gt;&lt;p&gt;© 2026 — React ⚛️&lt;/p&gt;&lt;/Footer&gt;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&lt;/div&gt;)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អនុវត្ត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លំហាត់ (Exercises)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7" name="Shape 4"/>
          <p:cNvSpPr/>
          <p:nvPr/>
        </p:nvSpPr>
        <p:spPr>
          <a:xfrm>
            <a:off x="667512" y="1627632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8" name="Text 5"/>
          <p:cNvSpPr/>
          <p:nvPr/>
        </p:nvSpPr>
        <p:spPr>
          <a:xfrm>
            <a:off x="66751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16152" y="14904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Setup React App ដំបូង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16152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project · កែ App.jsx · Inline style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4828032" y="1627632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3" name="Text 10"/>
          <p:cNvSpPr/>
          <p:nvPr/>
        </p:nvSpPr>
        <p:spPr>
          <a:xfrm>
            <a:off x="4828032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76672" y="1490472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Header / Footer / Card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76672" y="1828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File ដាច់ៗ · title prop · children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240487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512" y="2660904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216152" y="25237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StudentCard ជាមួយ Props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16152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name, age, grade, subjects · Default props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663440" y="2404872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22" name="Shape 19"/>
          <p:cNvSpPr/>
          <p:nvPr/>
        </p:nvSpPr>
        <p:spPr>
          <a:xfrm>
            <a:off x="4828032" y="2660904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3" name="Text 20"/>
          <p:cNvSpPr/>
          <p:nvPr/>
        </p:nvSpPr>
        <p:spPr>
          <a:xfrm>
            <a:off x="4828032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376672" y="2523744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 List of Students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76672" y="28620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.map() · key prop · Bonus: sort by grade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02920" y="3438144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EAF8FD"/>
          </a:solidFill>
          <a:ln/>
        </p:spPr>
      </p:sp>
      <p:sp>
        <p:nvSpPr>
          <p:cNvPr id="27" name="Shape 24"/>
          <p:cNvSpPr/>
          <p:nvPr/>
        </p:nvSpPr>
        <p:spPr>
          <a:xfrm>
            <a:off x="667512" y="3694176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28" name="Text 25"/>
          <p:cNvSpPr/>
          <p:nvPr/>
        </p:nvSpPr>
        <p:spPr>
          <a:xfrm>
            <a:off x="667512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216152" y="3557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Reusable Button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121615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variant · size · Default props · CSS class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4663440" y="3438144"/>
            <a:ext cx="397764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/>
        </p:spPr>
      </p:sp>
      <p:sp>
        <p:nvSpPr>
          <p:cNvPr id="32" name="Shape 29"/>
          <p:cNvSpPr/>
          <p:nvPr/>
        </p:nvSpPr>
        <p:spPr>
          <a:xfrm>
            <a:off x="4828032" y="3694176"/>
            <a:ext cx="411480" cy="411480"/>
          </a:xfrm>
          <a:prstGeom prst="ellipse">
            <a:avLst/>
          </a:prstGeom>
          <a:solidFill>
            <a:srgbClr val="20232A"/>
          </a:solidFill>
          <a:ln/>
        </p:spPr>
      </p:sp>
      <p:sp>
        <p:nvSpPr>
          <p:cNvPr id="33" name="Text 30"/>
          <p:cNvSpPr/>
          <p:nvPr/>
        </p:nvSpPr>
        <p:spPr>
          <a:xfrm>
            <a:off x="4828032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376672" y="3557016"/>
            <a:ext cx="3154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Bonus: Recipe Book App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5376672" y="38953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675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Grid · count · Conditional “Quick Meal” badge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02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ellipse">
            <a:avLst/>
          </a:prstGeom>
          <a:solidFill>
            <a:srgbClr val="282C3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8463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4114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ចំណុចសំខាន់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630936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41732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62763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69848" y="1417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= Library ស្ថាបនា UI បែប Declarative &amp; Component-Based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4663440" y="1417320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627632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30368" y="141732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Virtual DOM ធ្វើ React លឿន — Update តែផ្នែកដែលប្ដូរ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25856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46888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69848" y="22585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= Build Tool ទំនើប — npm create vite@latest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663440" y="2258568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246888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230368" y="2258568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JSX = HTML-like ក្នុង JS — Single Root, className, camelCase, { }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502920" y="309981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310128"/>
            <a:ext cx="292608" cy="29260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69848" y="30998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Component = Function return JSX — ឈ្មោះ PascalCase</a:t>
            </a:r>
            <a:endParaRPr lang="en-US" sz="1100" dirty="0"/>
          </a:p>
        </p:txBody>
      </p:sp>
      <p:sp>
        <p:nvSpPr>
          <p:cNvPr id="21" name="Shape 13"/>
          <p:cNvSpPr/>
          <p:nvPr/>
        </p:nvSpPr>
        <p:spPr>
          <a:xfrm>
            <a:off x="4663440" y="3099816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9744" y="3310128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30368" y="3099816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Props = បញ្ជូន Data Parent→Child (Read-Only!) · Destructuring</a:t>
            </a:r>
            <a:endParaRPr lang="en-US" sz="1100" dirty="0"/>
          </a:p>
        </p:txBody>
      </p:sp>
      <p:sp>
        <p:nvSpPr>
          <p:cNvPr id="24" name="Shape 15"/>
          <p:cNvSpPr/>
          <p:nvPr/>
        </p:nvSpPr>
        <p:spPr>
          <a:xfrm>
            <a:off x="502920" y="3941064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151376"/>
            <a:ext cx="292608" cy="29260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69848" y="39410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children = content រវាង tags · សម្រាប់ Wrapper Component</a:t>
            </a:r>
            <a:endParaRPr lang="en-US" sz="1100" dirty="0"/>
          </a:p>
        </p:txBody>
      </p:sp>
      <p:sp>
        <p:nvSpPr>
          <p:cNvPr id="27" name="Shape 17"/>
          <p:cNvSpPr/>
          <p:nvPr/>
        </p:nvSpPr>
        <p:spPr>
          <a:xfrm>
            <a:off x="4663440" y="3941064"/>
            <a:ext cx="3977640" cy="713232"/>
          </a:xfrm>
          <a:prstGeom prst="roundRect">
            <a:avLst>
              <a:gd name="adj" fmla="val 8974"/>
            </a:avLst>
          </a:prstGeom>
          <a:solidFill>
            <a:srgbClr val="282C34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9744" y="4151376"/>
            <a:ext cx="292608" cy="292608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230368" y="3941064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.map() + key = Pattern ស្ដង់ដារ Render List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66928" cy="566928"/>
          </a:xfrm>
          <a:prstGeom prst="ellipse">
            <a:avLst/>
          </a:prstGeom>
          <a:solidFill>
            <a:srgbClr val="20232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38912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6576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99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ធនធាន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188720" y="58521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Resources &amp; បន្ទាប់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54480"/>
            <a:ext cx="246888" cy="2468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Official Docs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17007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663440" y="1371600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554480"/>
            <a:ext cx="246888" cy="2468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2080" y="1444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React Quick Start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5212080" y="170078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2920" y="20848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267712"/>
            <a:ext cx="246888" cy="2468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51560" y="2157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Vite Guide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105156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vitejs.dev/guide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663440" y="2084832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267712"/>
            <a:ext cx="246888" cy="24688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12080" y="21579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Writing Markup with JSX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5212080" y="241401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502920" y="279806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2980944"/>
            <a:ext cx="246888" cy="2468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5156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Passing Props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051560" y="3127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react.dev/learn/passing-props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4663440" y="2798064"/>
            <a:ext cx="3977640" cy="603504"/>
          </a:xfrm>
          <a:prstGeom prst="roundRect">
            <a:avLst>
              <a:gd name="adj" fmla="val 9091"/>
            </a:avLst>
          </a:prstGeom>
          <a:solidFill>
            <a:srgbClr val="EAF8FD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980944"/>
            <a:ext cx="246888" cy="24688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28712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02C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Rendering Lists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5212080" y="31272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7C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react.dev/learn/rendering-lists</a:t>
            </a:r>
            <a:endParaRPr lang="en-US" sz="950" dirty="0"/>
          </a:p>
        </p:txBody>
      </p:sp>
      <p:sp>
        <p:nvSpPr>
          <p:cNvPr id="30" name="Shape 21"/>
          <p:cNvSpPr/>
          <p:nvPr/>
        </p:nvSpPr>
        <p:spPr>
          <a:xfrm>
            <a:off x="502920" y="3840480"/>
            <a:ext cx="8138160" cy="841248"/>
          </a:xfrm>
          <a:prstGeom prst="roundRect">
            <a:avLst>
              <a:gd name="adj" fmla="val 8696"/>
            </a:avLst>
          </a:prstGeom>
          <a:solidFill>
            <a:srgbClr val="20232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041648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325880" y="3840480"/>
            <a:ext cx="7178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61DAFB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បន្ទាប់  ·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Noto Sans Khmer" pitchFamily="34" charset="0"/>
                <a:ea typeface="Noto Sans Khmer" pitchFamily="34" charset="-122"/>
                <a:cs typeface="Noto Sans Khmer" pitchFamily="34" charset="-120"/>
              </a:rPr>
              <a:t>Lesson 16 — React State &amp; Events: useState, Event Handling, Forms, Conditional Rendering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15: React មូលដ្ឋាន</dc:title>
  <dc:subject>PptxGenJS Presentation</dc:subject>
  <dc:creator>AI Engineer Course</dc:creator>
  <cp:lastModifiedBy>AI Engineer Course</cp:lastModifiedBy>
  <cp:revision>1</cp:revision>
  <dcterms:created xsi:type="dcterms:W3CDTF">2026-06-23T15:48:47Z</dcterms:created>
  <dcterms:modified xsi:type="dcterms:W3CDTF">2026-06-23T15:48:47Z</dcterms:modified>
</cp:coreProperties>
</file>